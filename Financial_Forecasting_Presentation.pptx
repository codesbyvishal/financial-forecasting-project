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11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FINANCIAL FORECASTING FRONTIER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7132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Distributed Machine
Learning with PySpark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DFDB"/>
                </a:solidFill>
                <a:latin typeface="Calibri"/>
              </a:rPr>
              <a:t>Banking analytics at scale: 45K+ client records processed across 4 Spark tasks — data parallelism, EDA, predictive modelling, and real-time streaming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82112"/>
            <a:ext cx="2926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364992"/>
            <a:ext cx="7132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Vishal Kumar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DFDB"/>
                </a:solidFill>
                <a:latin typeface="Calibri"/>
              </a:rPr>
              <a:t>AlmaBetter  |  M.Sc. Data Science  | 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1920240" cy="1664208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45K+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Bank Client Records
Portuguese Campaign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77271" y="1234440"/>
            <a:ext cx="1920240" cy="1664208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77271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77271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Spark Tasks
Parallelism→Streaming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154680"/>
            <a:ext cx="1920240" cy="1664208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3337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ML Models
LR · RF · GBT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77271" y="3154680"/>
            <a:ext cx="1920240" cy="1664208"/>
          </a:xfrm>
          <a:prstGeom prst="roundRect">
            <a:avLst>
              <a:gd name="adj" fmla="val 6000"/>
            </a:avLst>
          </a:prstGeom>
          <a:solidFill>
            <a:srgbClr val="26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77271" y="3337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PySpark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1" y="4023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Distributed ML
Structured 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Agenda — 4 Spark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868680" cy="621792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TASK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8249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12121"/>
                </a:solidFill>
                <a:latin typeface="Calibri"/>
              </a:rPr>
              <a:t>Efficient Data Handling through Data Parallelism with PySpark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13432"/>
            <a:ext cx="868680" cy="621792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TASK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12121"/>
                </a:solidFill>
                <a:latin typeface="Calibri"/>
              </a:rPr>
              <a:t>Exploratory Data Analysis (EDA) with Spark SQL &amp; 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18104"/>
            <a:ext cx="868680" cy="621792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27355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TASK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9184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12121"/>
                </a:solidFill>
                <a:latin typeface="Calibri"/>
              </a:rPr>
              <a:t>Predictive Modelling — ML Pipeline with Logistic Regression, RF &amp; GBT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22776"/>
            <a:ext cx="868680" cy="621792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078224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TASK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9651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12121"/>
                </a:solidFill>
                <a:latin typeface="Calibri"/>
              </a:rPr>
              <a:t>Real-Time Transaction Analysis with Spark Structured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727448"/>
            <a:ext cx="868680" cy="621792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882896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0118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12121"/>
                </a:solidFill>
                <a:latin typeface="Calibri"/>
              </a:rPr>
              <a:t>Challenges, Model Comparison &amp; Business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532120"/>
            <a:ext cx="868680" cy="621792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6875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0585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12121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 &amp; Business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Demonstrate how Apache Spark and PySpark solve large-scale banking analytics challenges that single-machine tools cannot handle — from batch analysis to real-time fraud/subscription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PySpark distributed processing across 4 task pipeline: parallelism → EDA → ML pipeline → streaming; SparkSession with configurable memory and partitioning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2066544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F58"/>
                </a:solidFill>
                <a:latin typeface="Calibri"/>
              </a:rPr>
              <a:t>The Business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414016"/>
            <a:ext cx="11475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Modern banks process millions of records daily. Traditional single-machine tools (pandas, sklearn on a single server) hit hard memory and speed limits. This project demonstrates how Apache Spark distributes the same operations across a cluster — enabling: (1) Processing at scale without memory failure. (2) Real-time predictions on live transaction streams. (3) Distributed hyperparameter tuning via CrossValidator. (4) Reproducible, scheduled pipelines via SparkML Pipeline objects.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198246"/>
            <a:ext cx="5760720" cy="1170432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198246"/>
            <a:ext cx="5760720" cy="73152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1480" y="3326262"/>
            <a:ext cx="566928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32626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Task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353694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Data Parallelism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673734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Partition bank.csv into 4 parts by balance column; run parallel groupBy aggregations across partitions simultaneously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98246"/>
            <a:ext cx="5760720" cy="1170432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198246"/>
            <a:ext cx="576072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3326262"/>
            <a:ext cx="566928" cy="27432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326262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Task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3353694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EDA with Spark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673734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Spark SQL queries + Pandas visualisations; subscription rate by education; loan default analysis; contact method effectiveness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496694"/>
            <a:ext cx="5760720" cy="1170432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4496694"/>
            <a:ext cx="5760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1480" y="4624710"/>
            <a:ext cx="566928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462471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Task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652142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ML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972182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StringIndexer + OneHotEncoder + VectorAssembler → LR / RF / GBT; CrossValidator hyperparameter tuning; AUC &amp; accuracy evaluation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496694"/>
            <a:ext cx="5760720" cy="1170432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496694"/>
            <a:ext cx="57607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55080" y="4624710"/>
            <a:ext cx="566928" cy="2743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462471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Task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448" y="4652142"/>
            <a:ext cx="4901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Streaming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4972182"/>
            <a:ext cx="5559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Spark Structured Streaming on simulated live feed; pre-trained model broadcast for real-time predictions; watermarking for late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— bank.csv (Portuguese Bank Marketing)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45,211 client records, 17 features, binary classification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Understand the bank dataset structure — client demographics, campaign contact history, and socio-economic context — before distributing processing across Spark partitions.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spark.read.csv('bank.csv', header=True, inferSchema=True) → .show() → .describe() → .printSchema(); null checks via .filter(col.isNull())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975104"/>
            <a:ext cx="11475720" cy="320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Target variable: y (yes/no term deposit subscription)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binary target 'y' indicates whether a client subscribed to a term deposit. Class imbalance: ~88% 'no', ~12% 'yes' — this imbalance must be addressed in model training to avoid the model always predicting 'no'.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3540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6284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35408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17 features: demographics + campaign + economic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09728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Features include: age, job, marital status, education, credit default, balance, housing loan, personal loan, contact method, last contact month/day, duration, campaign count, previous contacts, previous outcome, and 3 economic indicators (emp.var.rate, euribor3m, nr.employed).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39019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41762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90194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No missing values — dataset is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4514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dataset contains no null values — a rare property for real financial data. The main data quality challenge is the class imbalance (88%/12%), not missing values.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14914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17657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4914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Loaded as Spark DataFrame — distributed from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23466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dataset is immediately loaded into a Spark DataFrame (not Pandas) — enabling lazy evaluation, distributed reads, and native Spark SQL operations from the first step.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2395728"/>
            <a:ext cx="5596128" cy="333756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6208" y="2395728"/>
            <a:ext cx="5596128" cy="292608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2432304"/>
            <a:ext cx="5413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Dataset Characteristics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276148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Rows: 45,211 client 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3108960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Columns: 17 features + 1 target (y)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3456432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Target distribution: 88% No / 12% 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5936" y="3803904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Data quality: No null values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415137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Source: Portuguese bank marketing campaign (2008–2013)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49884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File: bank.csv | Loaded via spark.read.csv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1 — Efficient Data Parallelism with PySpark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Partition data and process aggregations concurrently across the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Partition the bank.csv dataset and demonstrate that Spark can simultaneously compute multiple aggregations across different partitions — showing the parallelism advantage over single-machine pandas.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SparkSession with spark.sql.shuffle.partitions=4; df.repartition(4, 'balance') for even distribution; groupBy().agg() for parallel aggregations; Spark event logging for resource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Partitioned by 'balance' column — even data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Repartitioning by balance column ensures data is distributed across 4 partitions without skew. Balance is a good partition key because it has high cardinality and even distribution — preventing one partition from holding 80% of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2408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5151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24084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Parallel aggregation 1: avg balance per job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98404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groupBy('job').agg(avg('balance')) computed simultaneously across 4 partitions. Spark's DAG scheduler runs this as 4 parallel map tasks before a single reduce. Result: Management category shows highest average balance.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9533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2276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9533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Parallel aggregation 2: top 5 age groups by loan 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6965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groupBy('age').agg(sum('loan_amount')) then .orderBy(desc).limit(5) — identifies which age demographics carry the most loan exposure. Age group 40–50 shows the highest total loan amounts.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03449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06192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34492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Spark Event Logging for resource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8812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eventLog.dir configured before SparkSession start. Logs capture: task count, stage breakdown, shuffle bytes, and execution time per partition. This enables identification of processing bottlenecks in the distributed pipeline.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31152" y="2305250"/>
            <a:ext cx="4919472" cy="2359152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31152" y="2305250"/>
            <a:ext cx="4919472" cy="292608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2592" y="2341826"/>
            <a:ext cx="4736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Parallelism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671010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SparkSession config: 4 shuffle partitions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018482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Partition key: balance column (high cardinality)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365954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Task 1 result: Management = highest avg 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713426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Task 2 result: Age 40–50 = highest loan amounts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060898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Resource monitoring: Spark Event Log enabled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408370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Processing mode: Lazy evaluation → Action trigger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2 — EDA with Spark SQL &amp;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Analyse client behaviour and identify drivers of term deposit subscription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Perform exploratory data analysis entirely within Spark — using Spark SQL, groupBy aggregations, and UDFs — then visualise results with Pandas/Matplotlib after collecting to driver.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createOrReplaceTempView('bank') → spark.sql() queries; UDF for age_group categorisation; groupBy(['job','education','contact','month']).agg(); collected to Pandas for plotting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57607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Education level drives subscription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University-educated clients show significantly higher term deposit subscription rates than secondary or primary education. Higher education correlates with greater financial literacy and long-term savings behaviour.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4012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6755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40126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Cellular contact outperforms telephone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14446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Clients contacted via cellular have a materially higher success rate than those contacted by telephone. Mobile contact allows longer, more personalised conversations — and clients are more likely to be reachable.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9533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2276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95330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May has highest contact volume but June/Oct have better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6965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May is the peak month for outreach volume, but June and October show higher subscription conversion rates. Resource allocation should prioritise June and October for quality over volume.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03449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506192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34492"/>
            <a:ext cx="5349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Married clients: highest subscription absolute 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8812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Married clients make up the largest segment of term deposit subscribers in absolute count — though single clients show a higher subscription rate proportionally. Both segments are priority targets for different campaigns.</a:t>
            </a:r>
          </a:p>
        </p:txBody>
      </p:sp>
      <p:pic>
        <p:nvPicPr>
          <p:cNvPr id="34" name="Picture 33" descr="out_7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65640"/>
            <a:ext cx="5596128" cy="188446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36208" y="3804223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1: Client count by job type — management and blue-collar dominate; these segments are primary marketing targets</a:t>
            </a:r>
          </a:p>
        </p:txBody>
      </p:sp>
      <p:pic>
        <p:nvPicPr>
          <p:cNvPr id="36" name="Picture 35" descr="out_8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4105656"/>
            <a:ext cx="5596128" cy="20177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36208" y="6169634"/>
            <a:ext cx="55961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2: Credit default proportions — ~98% non-defaulters; class imbalance visible in default prediction; domain for fraud detection use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3 — Spark ML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Build a reproducible distributed ML pipeline for term deposit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Construct a Spark ML Pipeline that chains all preprocessing and modelling steps — ensuring consistent transformation of both training and test data, enabling reproducible predictions.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765112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8016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Pipeline([StringIndexer, OneHotEncoder, VectorAssembler, Classifier]) → pipeline.fit(train) → pipeline.transform(test); 80/20 stratified split with randomSplit([0.8,0.2], seed=42)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359152"/>
            <a:ext cx="5760720" cy="138988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59152"/>
            <a:ext cx="5760720" cy="73152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2487168"/>
            <a:ext cx="2743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5146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StringIndexer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28346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Converts all categorical columns (job, marital, education, contact, month, poutcome) to numeric indices.
WHY: Spark ML algorithms require numeric inputs — string values cause errors.
RESULT: Each category maps to a consistent integer index for all future predictions.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59152"/>
            <a:ext cx="5760720" cy="138988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359152"/>
            <a:ext cx="576072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55080" y="2487168"/>
            <a:ext cx="274320" cy="27432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4871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146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OneHotEncoder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8346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Converts each indexed categorical column to a binary vector.
WHY: Prevents ordinal bias — Logistic Regression would wrongly interpret index 3 &gt; index 1 without encoding.
RESULT: 6 categorical columns → 6 binary vector columns; no false ordinal relationships.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3895344"/>
            <a:ext cx="5760720" cy="138988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895344"/>
            <a:ext cx="5760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11480" y="402336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507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VectorAssembler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37083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Combines all numeric features and encoded binary vectors into a single 'features' vector column.
WHY: All Spark ML algorithms expect a single Vector column as input — not individual columns.
RESULT: One 'features' column ready for any classifier without code changes.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895344"/>
            <a:ext cx="5760720" cy="138988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63640" y="3895344"/>
            <a:ext cx="576072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55080" y="402336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023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0507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Classifier Stage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437083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alibri"/>
              </a:rPr>
              <a:t>Pluggable model stage — swap Logistic Regression, Random Forest, or GBT without changing any other pipeline step.
WHY: Pipeline architecture makes model comparison clean — same preprocessing for all 3 models.
RESULT: Fair apples-to-apples comparison of 3 models on identical feature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3 — Three ML Models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Logistic Regression vs Random Forest vs Gradient-Boosted Trees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Train three classification models on the same Spark ML Pipeline and compare their accuracy, AUC, and interpretability — selecting the best model for production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LogisticRegression(maxIter=100); RandomForestClassifier(numTrees=100); GBTClassifier(maxIter=10); all trained via pipeline.fit(train); BinaryClassificationEvaluator for AUC; MulticlassClassificationEvaluator for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01016"/>
            <a:ext cx="3831336" cy="250545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801016"/>
            <a:ext cx="3767328" cy="9144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87416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F58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1009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Type: Linear probabilistic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57562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Hyperparams: maxIter=100, regParam=0.01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05034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Strength: Interpretable coefficients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2506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Result: Moderate accuracy; interpretable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99978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Best for: Understanding which features drive subscription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745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Weakness: Cannot capture non-linear patterns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801016"/>
            <a:ext cx="3675888" cy="252374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3801016"/>
            <a:ext cx="3767328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387416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Calibri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21009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Type: Ensemble of 100 decision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57562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Hyperparams: numTrees=100, maxDepth=5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905034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Strength: Handles non-linearity + feature importance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52506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Result: Best AUC; best overall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599978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Best for: Production deployment (accuracy + explainability)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94745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Weakness: Slower to train than LR on large clusters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3801016"/>
            <a:ext cx="3639312" cy="259232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83880" y="3801016"/>
            <a:ext cx="376732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387416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GBT Classifier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1009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Type: Boosted tree ensemble (sequential learners)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57562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Hyperparams: maxIter=10, maxDepth=5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905034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Strength: Often highest accuracy on structured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252506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Result: Competitive with RF; slightly slower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599978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Best for: High-accuracy batch scoring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947450"/>
            <a:ext cx="3611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Weakness: Risk of overfitting without careful regularisation</a:t>
            </a:r>
          </a:p>
        </p:txBody>
      </p:sp>
      <p:pic>
        <p:nvPicPr>
          <p:cNvPr id="43" name="Picture 42" descr="out_11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6" y="2103842"/>
            <a:ext cx="11475720" cy="1478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20040" y="3521564"/>
            <a:ext cx="1147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3: Model evaluation — accuracy and AUC across all 3 models after hyperparameter tuning; Random Forest leads on 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3 — Hyperparameter Tuning with CrossValidator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Find optimal model parameters via distributed grid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Use Spark's CrossValidator and ParamGridBuilder to systematically search hyperparameter combinations — leveraging distributed parallelism to make tuning as fast as model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 err="1">
                <a:solidFill>
                  <a:srgbClr val="1D4F58"/>
                </a:solidFill>
                <a:latin typeface="Calibri"/>
              </a:rPr>
              <a:t>ParamGridBuilder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().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addGrid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numTrees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 [50,100,150]).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addGrid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maxDepth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, [3,5,7]).build() →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CrossValidator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(estimator=pipeline, 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numFolds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=5, evaluator=</a:t>
            </a:r>
            <a:r>
              <a:rPr sz="1150" b="1" i="0" dirty="0" err="1">
                <a:solidFill>
                  <a:srgbClr val="1D4F58"/>
                </a:solidFill>
                <a:latin typeface="Calibri"/>
              </a:rPr>
              <a:t>BinaryClassificationEvaluator</a:t>
            </a:r>
            <a:r>
              <a:rPr sz="1150" b="1" i="0" dirty="0">
                <a:solidFill>
                  <a:srgbClr val="1D4F58"/>
                </a:solidFill>
                <a:latin typeface="Calibri"/>
              </a:rPr>
              <a:t>) → .fit(train)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Spark runs grid search in parallel across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Unlike sklearn's GridSearchCV (serial or limited parallelism), Spark's CrossValidator distributes each parameter combination to a different executor. With 3×3×5 folds = 45 jobs, Spark runs all in parallel — dramatically reducing tuning wall-clock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356168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38360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56168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Optimal RF: numTrees=100, maxDepth=5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30488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Cross-validated results show Random Forest with 100 trees and max depth 5 achieves the best AUC on the validation folds. Deeper trees (maxDepth=7) overfit; shallower trees (maxDepth=3) underfit.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419533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22276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9533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5-fold cross-validation — robust performance estimate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6965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5 folds means 80% training / 20% validation per fold, repeated 5 times. The final AUC is averaged across 5 independent validation sets — a much more reliable estimate than a single train-test split.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495428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498171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54282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Best model saved and registered for Task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28602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best model from CrossValidator is extracted via .bestModel and broadcast to all Spark executors for use in Task 4 streaming predictions — ensuring the same tuned model is used in real-time inference.</a:t>
            </a:r>
          </a:p>
        </p:txBody>
      </p:sp>
      <p:pic>
        <p:nvPicPr>
          <p:cNvPr id="34" name="Picture 33" descr="out_13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993152"/>
            <a:ext cx="4919472" cy="42931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024" y="6144768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4: Training vs test accuracy comparison across models — confirms RF </a:t>
            </a:r>
            <a:r>
              <a:rPr sz="950" b="0" i="1" dirty="0" err="1">
                <a:solidFill>
                  <a:srgbClr val="546E7A"/>
                </a:solidFill>
                <a:latin typeface="Calibri"/>
              </a:rPr>
              <a:t>generalises</a:t>
            </a:r>
            <a:r>
              <a:rPr sz="950" b="0" i="1" dirty="0">
                <a:solidFill>
                  <a:srgbClr val="546E7A"/>
                </a:solidFill>
                <a:latin typeface="Calibri"/>
              </a:rPr>
              <a:t> well; minimal overfitting gap between train and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Task 4 — Real-Time Streaming with Spark Structured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2DFDB"/>
                </a:solidFill>
                <a:latin typeface="Calibri"/>
              </a:rPr>
              <a:t>Objective: Apply trained model to a live transaction stream for real-time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Simulate a real-time bank transaction feed and apply the pre-trained Random Forest model to each arriving micro-batch — producing subscription probability scores in near-real-time.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636776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6733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66420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D4F58"/>
                </a:solidFill>
                <a:latin typeface="Calibri"/>
              </a:rPr>
              <a:t>bank.csv chunked to simulate streaming source; spark.readStream → applied_model via UDF → writeStream to console; window aggregations (10-min sliding window); watermarking for late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066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350008"/>
            <a:ext cx="64922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" y="24688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468880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F58"/>
                </a:solidFill>
                <a:latin typeface="Calibri"/>
              </a:rPr>
              <a:t>Streaming source: bank.csv chunked as micro-batches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bank.csv file is split into chunks that are fed to the streaming source sequentially — simulating a live transaction feed without requiring a real Kafka or database stream. Each micro-batch triggers a new model inference round.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" y="3227832"/>
            <a:ext cx="292608" cy="29260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255264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27832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Trained RF model broadcast to all executors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02152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The tuned Random Forest model is serialised and broadcast to all Spark worker nodes using SparkContext.broadcast(). This ensures each executor has a local copy for low-latency inference — no network call per prediction.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" y="3986784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401421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86784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Window aggregation: rolling avg balance over 10-min 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61104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A 10-minute sliding window computes average balance and transaction count in real-time. This provides trend monitoring on top of individual predictions — detecting if a surge of low-balance clients is arriving.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4745736"/>
            <a:ext cx="292608" cy="292608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477316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45736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Watermarking handles late &amp; out-of-order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0056"/>
            <a:ext cx="6080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Watermark set to 10 minutes — Spark accepts records up to 10 minutes late without corrupting window calculations. This ensures accurate real-time analytics even when network delays cause out-of-order event arrival.</a:t>
            </a:r>
          </a:p>
        </p:txBody>
      </p:sp>
      <p:pic>
        <p:nvPicPr>
          <p:cNvPr id="34" name="Picture 33" descr="out_136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911096"/>
            <a:ext cx="4919472" cy="421699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31152" y="6128086"/>
            <a:ext cx="4919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 dirty="0">
                <a:solidFill>
                  <a:srgbClr val="546E7A"/>
                </a:solidFill>
                <a:latin typeface="Calibri"/>
              </a:rPr>
              <a:t>Fig 5: Rolling average balance trend over streaming window — shows real-time balance fluctuations as micro-batches arrive; stable mean with periodic spikes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Conclusion, Model Comparison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DFDB"/>
                </a:solidFill>
                <a:latin typeface="Calibri"/>
              </a:rPr>
              <a:t>Financial Forecasting Frontier: Distributed ML  |  Vishal Kumar Singh  |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298448"/>
            <a:ext cx="11887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33502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325880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46E7A"/>
                </a:solidFill>
                <a:latin typeface="Calibri"/>
              </a:rPr>
              <a:t>Summarise all 4 task results, compare model performance, and identify future improvements for production-scale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76272"/>
            <a:ext cx="3767328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176272"/>
            <a:ext cx="3767328" cy="9144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49424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D4F58"/>
                </a:solidFill>
                <a:latin typeface="Calibri"/>
              </a:rPr>
              <a:t>Results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Task 1: 4-partition parallelism; Management = top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8211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Task 2: University education → highest subscription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3075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Task 3: Random Forest best AUC; GBT competitive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7939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Hyperparameter tuning: numTrees=100, maxDepth=5 optimal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2803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Task 4: RF broadcast to executors; 10-min watermark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766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All models logged in MLflow-style experiment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176272"/>
            <a:ext cx="3767328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60" y="2176272"/>
            <a:ext cx="3767328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2249424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65C0"/>
                </a:solidFill>
                <a:latin typeface="Calibri"/>
              </a:rPr>
              <a:t>Model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6334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Logistic Regression: interpretable; moderate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18211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Random Forest: best AUC + balanced accuracy (BEST)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73075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GBT: competitive accuracy; slower inference than 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7939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Key insight: non-linear models outperform LR significantly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82803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Class imbalance (88%/12%) addressed via class weights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766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CrossValidator: 5-fold distributed tuning confirms RF 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2176272"/>
            <a:ext cx="3767328" cy="4114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176272"/>
            <a:ext cx="376732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2249424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Future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6334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Deploy on AWS EMR or Databricks for true cluster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18211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Add SMOTE for class imbalance instead of class weights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73075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Integrate with live Kafka stream (replace CSV simulation)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7939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Add SHAP explainability for individual prediction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82803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Build real-time dashboard: subscription probability heatmap by segment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3766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▸  Extend to multi-class: subscription + default + churn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D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3347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9E0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3200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Vishal Kumar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020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DFDB"/>
                </a:solidFill>
                <a:latin typeface="Calibri"/>
              </a:rPr>
              <a:t>AlmaBetter  |  M.Sc. Data Science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28016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45K+ records distributed across 4 Spark partitions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86537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EDA: University education = highest subscription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5059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Pipeline: StringIndexer → OneHotEncoder → VectorAssembler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03580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RF best AUC; GBT competitive; LR interpretable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621024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CrossValidator: 5-fold distributed hyperparameter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2062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Streaming: RF broadcast to executors; 10-min watermark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79145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Task 4: real-time rolling avg balance monitored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2915</Words>
  <Application>Microsoft Office PowerPoint</Application>
  <PresentationFormat>Custom</PresentationFormat>
  <Paragraphs>249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Singh</cp:lastModifiedBy>
  <cp:revision>2</cp:revision>
  <dcterms:created xsi:type="dcterms:W3CDTF">2013-01-27T09:14:16Z</dcterms:created>
  <dcterms:modified xsi:type="dcterms:W3CDTF">2026-06-27T20:57:45Z</dcterms:modified>
  <cp:category/>
</cp:coreProperties>
</file>